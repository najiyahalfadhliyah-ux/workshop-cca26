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Relationship Id="rId10" Type="http://schemas.openxmlformats.org/officeDocument/2006/relationships/image" Target="../media/image30.png"/><Relationship Id="rId11" Type="http://schemas.openxmlformats.org/officeDocument/2006/relationships/image" Target="../media/image3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Relationship Id="rId9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62000" y="2216646"/>
            <a:ext cx="762000" cy="5715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2559546"/>
            <a:ext cx="7250906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b="0" sz="4200" i="0" u="none">
                <a:solidFill>
                  <a:srgbClr val="E6F1FF"/>
                </a:solidFill>
                <a:latin typeface="Montserrat ExtraBold"/>
              </a:rPr>
              <a:t>RANGKUMAN EKSEKUTIF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485257"/>
            <a:ext cx="4257675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b="0" sz="2400" i="0" u="none">
                <a:solidFill>
                  <a:srgbClr val="CCD6F6"/>
                </a:solidFill>
                <a:latin typeface="Roboto Medium"/>
              </a:rPr>
              <a:t>Pembelajaran Modul 1, 2, 4, &amp;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4163317"/>
            <a:ext cx="563880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14B8A6"/>
                </a:solidFill>
                <a:latin typeface="Roboto Medium"/>
              </a:rPr>
              <a:t>Panduan Ringkas Integrasi Konsep dan Implementasi Praktis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689645"/>
            <a:ext cx="3365450" cy="421585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3200" y="1689645"/>
            <a:ext cx="3365450" cy="421585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400" y="1689645"/>
            <a:ext cx="3365599" cy="4215854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275" y="2080170"/>
            <a:ext cx="762000" cy="76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7275" y="3127920"/>
            <a:ext cx="291364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800" i="0" u="none">
                <a:solidFill>
                  <a:srgbClr val="CCD6F6"/>
                </a:solidFill>
                <a:latin typeface="Montserrat SemiBold"/>
              </a:rPr>
              <a:t>Ruang Lingkup Arsitektur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7275" y="3867001"/>
            <a:ext cx="277490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8892B0"/>
                </a:solidFill>
                <a:latin typeface="Roboto"/>
              </a:rPr>
              <a:t>Pemahaman mendalam mengenai struktur PC atau Laptop serta interaksi antarkomponen di dalamnya.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8475" y="2080170"/>
            <a:ext cx="762000" cy="76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08475" y="3127920"/>
            <a:ext cx="216027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800" i="0" u="none">
                <a:solidFill>
                  <a:srgbClr val="CCD6F6"/>
                </a:solidFill>
                <a:latin typeface="Montserrat SemiBold"/>
              </a:rPr>
              <a:t>Prinsip Sinergitas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8475" y="3592710"/>
            <a:ext cx="27749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8892B0"/>
                </a:solidFill>
                <a:latin typeface="Roboto"/>
              </a:rPr>
              <a:t>Kolaborasi esensial dan transfer data antara CPU, RAM, &amp; Media Penyimpanan (HDD/SSD).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9675" y="2080170"/>
            <a:ext cx="762000" cy="762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59675" y="3127920"/>
            <a:ext cx="2740342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800" i="0" u="none">
                <a:solidFill>
                  <a:srgbClr val="CCD6F6"/>
                </a:solidFill>
                <a:latin typeface="Montserrat SemiBold"/>
              </a:rPr>
              <a:t>Urgensi Implementasi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9675" y="3592710"/>
            <a:ext cx="2775049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8892B0"/>
                </a:solidFill>
                <a:latin typeface="Roboto"/>
              </a:rPr>
              <a:t>Mencegah terjadinya </a:t>
            </a:r>
            <a:r>
              <a:rPr b="0" sz="1500" i="1" u="none">
                <a:solidFill>
                  <a:srgbClr val="8892B0"/>
                </a:solidFill>
                <a:latin typeface="Roboto"/>
              </a:rPr>
              <a:t>bottleneck</a:t>
            </a:r>
            <a:r>
              <a:rPr b="0" sz="1500" i="0" u="none">
                <a:solidFill>
                  <a:srgbClr val="8892B0"/>
                </a:solidFill>
                <a:latin typeface="Roboto"/>
              </a:rPr>
              <a:t> pada sistem dan menghindari kesalahan pemilihan spesifikasi hardware.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8250" y="2261145"/>
            <a:ext cx="400050" cy="4000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65637" y="2261145"/>
            <a:ext cx="447675" cy="4000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40650" y="2261145"/>
            <a:ext cx="400050" cy="4000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62000" y="571500"/>
            <a:ext cx="11201400" cy="4990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779"/>
              </a:lnSpc>
            </a:pPr>
            <a:r>
              <a:rPr b="1" sz="3150" i="0" u="none">
                <a:solidFill>
                  <a:srgbClr val="E6F1FF"/>
                </a:solidFill>
                <a:latin typeface="Montserrat"/>
              </a:rPr>
              <a:t>Modul 1: Pengenalan &amp; Konsep Dasar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2000" y="1194345"/>
            <a:ext cx="10668000" cy="190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91875" y="6200775"/>
            <a:ext cx="238125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233554"/>
                </a:solidFill>
                <a:latin typeface="Montserrat"/>
              </a:rPr>
              <a:t>01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10250" y="873397"/>
            <a:ext cx="5715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5025" y="3061245"/>
            <a:ext cx="514350" cy="514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861345"/>
            <a:ext cx="3200400" cy="243646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8825" y="3061245"/>
            <a:ext cx="514350" cy="5143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5800" y="3861345"/>
            <a:ext cx="3200400" cy="243646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72625" y="3061245"/>
            <a:ext cx="514350" cy="5143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3861345"/>
            <a:ext cx="3200400" cy="243646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1689645"/>
            <a:ext cx="7620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8892B0"/>
                </a:solidFill>
                <a:latin typeface="Roboto"/>
              </a:rPr>
              <a:t>Penerapan metode diagnostik melalui </a:t>
            </a:r>
            <a:r>
              <a:rPr b="0" sz="1500" i="1" u="none">
                <a:solidFill>
                  <a:srgbClr val="8892B0"/>
                </a:solidFill>
                <a:latin typeface="Roboto"/>
              </a:rPr>
              <a:t>tools</a:t>
            </a:r>
            <a:r>
              <a:rPr b="0" sz="1500" i="0" u="none">
                <a:solidFill>
                  <a:srgbClr val="8892B0"/>
                </a:solidFill>
                <a:latin typeface="Roboto"/>
              </a:rPr>
              <a:t> sistem dan inspeksi fisik untuk pemetaan gejala masalah komponen secara presisi.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95400" y="3299370"/>
            <a:ext cx="9601200" cy="38100"/>
          </a:xfrm>
          <a:prstGeom prst="rect">
            <a:avLst/>
          </a:prstGeom>
          <a:solidFill>
            <a:srgbClr val="233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015" y="4185195"/>
            <a:ext cx="296037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800" i="0" u="none">
                <a:solidFill>
                  <a:srgbClr val="CCD6F6"/>
                </a:solidFill>
                <a:latin typeface="Montserrat SemiBold"/>
              </a:rPr>
              <a:t>Isolasi Gejala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4649985"/>
            <a:ext cx="281940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8892B0"/>
                </a:solidFill>
                <a:latin typeface="Roboto"/>
              </a:rPr>
              <a:t>Mengidentifikasi dan memisahkan masalah utama dari gejala sekunder untuk menentukan titik kerusakan.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5815" y="4185195"/>
            <a:ext cx="296037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800" i="0" u="none">
                <a:solidFill>
                  <a:srgbClr val="CCD6F6"/>
                </a:solidFill>
                <a:latin typeface="Montserrat SemiBold"/>
              </a:rPr>
              <a:t>Pengujian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6300" y="4649985"/>
            <a:ext cx="281940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8892B0"/>
                </a:solidFill>
                <a:latin typeface="Roboto"/>
              </a:rPr>
              <a:t>Melakukan tes sistematis berdasarkan hipotesis awal terhadap komponen yang dicurigai bermasalah.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9615" y="4185195"/>
            <a:ext cx="296037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800" i="0" u="none">
                <a:solidFill>
                  <a:srgbClr val="CCD6F6"/>
                </a:solidFill>
                <a:latin typeface="Montserrat SemiBold"/>
              </a:rPr>
              <a:t>Verifikasi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0100" y="4649985"/>
            <a:ext cx="281940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8892B0"/>
                </a:solidFill>
                <a:latin typeface="Roboto"/>
              </a:rPr>
              <a:t>Memastikan resolusi berhasil diterapkan dan sistem kembali beroperasi dalam kondisi optimal.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571500"/>
            <a:ext cx="11201400" cy="4990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779"/>
              </a:lnSpc>
            </a:pPr>
            <a:r>
              <a:rPr b="1" sz="3150" i="0" u="none">
                <a:solidFill>
                  <a:srgbClr val="E6F1FF"/>
                </a:solidFill>
                <a:latin typeface="Montserrat"/>
              </a:rPr>
              <a:t>Modul 2: Kerangka Kerja &amp; Pendekatan Analitis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2000" y="1194345"/>
            <a:ext cx="10668000" cy="190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44250" y="6200775"/>
            <a:ext cx="2857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233554"/>
                </a:solidFill>
                <a:latin typeface="Montserrat"/>
              </a:rPr>
              <a:t>02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10250" y="873397"/>
            <a:ext cx="5715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689645"/>
            <a:ext cx="5143500" cy="4705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689645"/>
            <a:ext cx="5143500" cy="47053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1100" y="2070645"/>
            <a:ext cx="552450" cy="647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14475" y="3004095"/>
            <a:ext cx="40100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8892B0"/>
                </a:solidFill>
                <a:latin typeface="Roboto"/>
              </a:rPr>
              <a:t>Perancangan Sistem:</a:t>
            </a:r>
            <a:r>
              <a:rPr b="0" sz="1500" i="0" u="none">
                <a:solidFill>
                  <a:srgbClr val="8892B0"/>
                </a:solidFill>
                <a:latin typeface="Roboto"/>
              </a:rPr>
              <a:t> Pemilihan &amp; instalasi OS (Windows/Linux) yang disesuaikan dengan utilitas.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4475" y="4108995"/>
            <a:ext cx="40100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8892B0"/>
                </a:solidFill>
                <a:latin typeface="Roboto"/>
              </a:rPr>
              <a:t>Manajemen Partisi:</a:t>
            </a:r>
            <a:r>
              <a:rPr b="0" sz="1500" i="0" u="none">
                <a:solidFill>
                  <a:srgbClr val="8892B0"/>
                </a:solidFill>
                <a:latin typeface="Roboto"/>
              </a:rPr>
              <a:t> Alokasi ruang yang presisi untuk pemisahan data dan sistem.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4475" y="4909095"/>
            <a:ext cx="40100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8892B0"/>
                </a:solidFill>
                <a:latin typeface="Roboto"/>
              </a:rPr>
              <a:t>Keamanan:</a:t>
            </a:r>
            <a:r>
              <a:rPr b="0" sz="1500" i="0" u="none">
                <a:solidFill>
                  <a:srgbClr val="8892B0"/>
                </a:solidFill>
                <a:latin typeface="Roboto"/>
              </a:rPr>
              <a:t> Penggunaan repositori resmi dan konfigurasi sekuritas pasca-instalasi.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5600" y="2070645"/>
            <a:ext cx="590550" cy="647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038975" y="3004095"/>
            <a:ext cx="40100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8892B0"/>
                </a:solidFill>
                <a:latin typeface="Roboto"/>
              </a:rPr>
              <a:t>Driver Mismatch:</a:t>
            </a:r>
            <a:r>
              <a:rPr b="0" sz="1500" i="0" u="none">
                <a:solidFill>
                  <a:srgbClr val="8892B0"/>
                </a:solidFill>
                <a:latin typeface="Roboto"/>
              </a:rPr>
              <a:t> Identifikasi dan pembaruan driver yang tidak kompatibel dengan arsitektur 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38975" y="4108995"/>
            <a:ext cx="40100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8892B0"/>
                </a:solidFill>
                <a:latin typeface="Roboto"/>
              </a:rPr>
              <a:t>Boot Failure:</a:t>
            </a:r>
            <a:r>
              <a:rPr b="0" sz="1500" i="0" u="none">
                <a:solidFill>
                  <a:srgbClr val="8892B0"/>
                </a:solidFill>
                <a:latin typeface="Roboto"/>
              </a:rPr>
              <a:t> Strategi perbaikan </a:t>
            </a:r>
            <a:r>
              <a:rPr b="0" sz="1500" i="1" u="none">
                <a:solidFill>
                  <a:srgbClr val="8892B0"/>
                </a:solidFill>
                <a:latin typeface="Roboto"/>
              </a:rPr>
              <a:t>bootloader</a:t>
            </a:r>
            <a:r>
              <a:rPr b="0" sz="1500" i="0" u="none">
                <a:solidFill>
                  <a:srgbClr val="8892B0"/>
                </a:solidFill>
                <a:latin typeface="Roboto"/>
              </a:rPr>
              <a:t> dan pemulihan sistem darurat.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38975" y="4909095"/>
            <a:ext cx="40100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8892B0"/>
                </a:solidFill>
                <a:latin typeface="Roboto"/>
              </a:rPr>
              <a:t>Konflik Resource:</a:t>
            </a:r>
            <a:r>
              <a:rPr b="0" sz="1500" i="0" u="none">
                <a:solidFill>
                  <a:srgbClr val="8892B0"/>
                </a:solidFill>
                <a:latin typeface="Roboto"/>
              </a:rPr>
              <a:t> Penanganan manajemen layanan yang membebani kinerja sistem di latar belakang.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3975" y="2232570"/>
            <a:ext cx="266700" cy="304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924050" y="2111573"/>
            <a:ext cx="304038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800" i="0" u="none">
                <a:solidFill>
                  <a:srgbClr val="CCD6F6"/>
                </a:solidFill>
                <a:latin typeface="Montserrat SemiBold"/>
              </a:rPr>
              <a:t>Strategi &amp; Best Practices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4050" y="2433488"/>
            <a:ext cx="289560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14B8A6"/>
                </a:solidFill>
                <a:latin typeface="Roboto"/>
              </a:rPr>
              <a:t>Sistem Operasi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48475" y="2232570"/>
            <a:ext cx="304800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486650" y="2111573"/>
            <a:ext cx="2380297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800" i="0" u="none">
                <a:solidFill>
                  <a:srgbClr val="CCD6F6"/>
                </a:solidFill>
                <a:latin typeface="Montserrat SemiBold"/>
              </a:rPr>
              <a:t>Mitigasi Tantangan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86650" y="2433488"/>
            <a:ext cx="226695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F59E0B"/>
                </a:solidFill>
                <a:latin typeface="Roboto"/>
              </a:rPr>
              <a:t>Pemecahan Masalah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571500"/>
            <a:ext cx="11201400" cy="4990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779"/>
              </a:lnSpc>
            </a:pPr>
            <a:r>
              <a:rPr b="1" sz="3150" i="0" u="none">
                <a:solidFill>
                  <a:srgbClr val="E6F1FF"/>
                </a:solidFill>
                <a:latin typeface="Montserrat"/>
              </a:rPr>
              <a:t>Modul 4: Strategi Pelaksanaan &amp; Eksekusi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2000" y="1194345"/>
            <a:ext cx="10668000" cy="190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44250" y="6200775"/>
            <a:ext cx="2857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233554"/>
                </a:solidFill>
                <a:latin typeface="Montserrat"/>
              </a:rPr>
              <a:t>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10250" y="873397"/>
            <a:ext cx="5715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1100" y="3023145"/>
            <a:ext cx="190500" cy="2000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1100" y="4128045"/>
            <a:ext cx="190500" cy="2000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1100" y="4928145"/>
            <a:ext cx="190500" cy="20002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05600" y="3023145"/>
            <a:ext cx="190500" cy="20002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05600" y="4128045"/>
            <a:ext cx="190500" cy="20002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05600" y="4928145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169616"/>
            <a:ext cx="3365450" cy="396046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3200" y="2169616"/>
            <a:ext cx="3365450" cy="396046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400" y="2169616"/>
            <a:ext cx="3365599" cy="396046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275" y="2560141"/>
            <a:ext cx="762000" cy="76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7275" y="3607891"/>
            <a:ext cx="2850356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800" i="0" u="none">
                <a:solidFill>
                  <a:srgbClr val="CCD6F6"/>
                </a:solidFill>
                <a:latin typeface="Montserrat SemiBold"/>
              </a:rPr>
              <a:t>Indikator Kinerja (KPIs)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7275" y="4072681"/>
            <a:ext cx="277490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8892B0"/>
                </a:solidFill>
                <a:latin typeface="Roboto"/>
              </a:rPr>
              <a:t>Fokus pada efisiensi penggunaan memori (RAM) dan kecepatan eksekusi perintah berbasis teks dibandingkan GUI.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8475" y="2560141"/>
            <a:ext cx="762000" cy="76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08475" y="3607891"/>
            <a:ext cx="244030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800" i="0" u="none">
                <a:solidFill>
                  <a:srgbClr val="CCD6F6"/>
                </a:solidFill>
                <a:latin typeface="Montserrat SemiBold"/>
              </a:rPr>
              <a:t>Optimalisasi Sistem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8475" y="4072681"/>
            <a:ext cx="27749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8892B0"/>
                </a:solidFill>
                <a:latin typeface="Roboto"/>
              </a:rPr>
              <a:t>Implementasi otomatisasi tugas repetitif dan pemeliharaan menggunakan eksekusi </a:t>
            </a:r>
            <a:r>
              <a:rPr b="0" sz="1500" i="1" u="none">
                <a:solidFill>
                  <a:srgbClr val="8892B0"/>
                </a:solidFill>
                <a:latin typeface="Roboto"/>
              </a:rPr>
              <a:t>Command Prompt</a:t>
            </a:r>
            <a:r>
              <a:rPr b="0" sz="1500" i="0" u="none">
                <a:solidFill>
                  <a:srgbClr val="8892B0"/>
                </a:solidFill>
                <a:latin typeface="Roboto"/>
              </a:rPr>
              <a:t> atau </a:t>
            </a:r>
            <a:r>
              <a:rPr b="0" sz="1500" i="1" u="none">
                <a:solidFill>
                  <a:srgbClr val="8892B0"/>
                </a:solidFill>
                <a:latin typeface="Roboto"/>
              </a:rPr>
              <a:t>Batch script</a:t>
            </a:r>
            <a:r>
              <a:rPr b="0" sz="1500" i="0" u="none">
                <a:solidFill>
                  <a:srgbClr val="8892B0"/>
                </a:solidFill>
                <a:latin typeface="Roboto"/>
              </a:rPr>
              <a:t>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9675" y="2560141"/>
            <a:ext cx="762000" cy="762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59675" y="3607891"/>
            <a:ext cx="2913801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800" i="0" u="none">
                <a:solidFill>
                  <a:srgbClr val="CCD6F6"/>
                </a:solidFill>
                <a:latin typeface="Montserrat SemiBold"/>
              </a:rPr>
              <a:t>Prospek Jangka Panjang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9675" y="4346971"/>
            <a:ext cx="2775049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8892B0"/>
                </a:solidFill>
                <a:latin typeface="Roboto"/>
              </a:rPr>
              <a:t>Membangun fondasi logika dan sintaksis yang krusial untuk karir di bidang </a:t>
            </a:r>
            <a:r>
              <a:rPr b="0" sz="1500" i="1" u="none">
                <a:solidFill>
                  <a:srgbClr val="8892B0"/>
                </a:solidFill>
                <a:latin typeface="Roboto"/>
              </a:rPr>
              <a:t>DevOps</a:t>
            </a:r>
            <a:r>
              <a:rPr b="0" sz="1500" i="0" u="none">
                <a:solidFill>
                  <a:srgbClr val="8892B0"/>
                </a:solidFill>
                <a:latin typeface="Roboto"/>
              </a:rPr>
              <a:t> &amp; Administrasi Server.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8250" y="2741116"/>
            <a:ext cx="400050" cy="4000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37062" y="2741116"/>
            <a:ext cx="504825" cy="4000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40650" y="2741116"/>
            <a:ext cx="400050" cy="4000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62000" y="571500"/>
            <a:ext cx="11201400" cy="97899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779"/>
              </a:lnSpc>
            </a:pPr>
            <a:r>
              <a:rPr b="1" sz="3150" i="0" u="none">
                <a:solidFill>
                  <a:srgbClr val="E6F1FF"/>
                </a:solidFill>
                <a:latin typeface="Montserrat"/>
              </a:rPr>
              <a:t>Modul 8: Evaluasi Kinerja &amp; Pengembangan Lanjutan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2000" y="1674316"/>
            <a:ext cx="10668000" cy="190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15675" y="6200775"/>
            <a:ext cx="314325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233554"/>
                </a:solidFill>
                <a:latin typeface="Montserrat"/>
              </a:rPr>
              <a:t>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10250" y="1113383"/>
            <a:ext cx="5715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689645"/>
            <a:ext cx="9601200" cy="463793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7775" y="4070449"/>
            <a:ext cx="2749450" cy="177135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7725" y="4070449"/>
            <a:ext cx="2749599" cy="177135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7825" y="4070449"/>
            <a:ext cx="2749450" cy="177135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71525" y="3989561"/>
            <a:ext cx="9582150" cy="38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2033" y="2175420"/>
            <a:ext cx="9061132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2400" i="0" u="none">
                <a:solidFill>
                  <a:srgbClr val="E6F1FF"/>
                </a:solidFill>
                <a:latin typeface="Montserrat SemiBold"/>
              </a:rPr>
              <a:t>Integrasi Pengetahuan adalah Kunci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2600" y="2683966"/>
            <a:ext cx="7620000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8892B0"/>
                </a:solidFill>
                <a:latin typeface="Roboto"/>
              </a:rPr>
              <a:t>Keempat modul ini membentuk satu alur kehidupan sistem IT yang tidak dapat dipisahkan; mulai dari perakitan perangkat fisik, instalasi platform, hingga eksekusi otomatisasi.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2125" y="4318099"/>
            <a:ext cx="2086823" cy="205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20"/>
              </a:lnSpc>
            </a:pPr>
            <a:r>
              <a:rPr b="0" sz="1350" i="0" u="none">
                <a:solidFill>
                  <a:srgbClr val="14B8A6"/>
                </a:solidFill>
                <a:latin typeface="Montserrat SemiBold"/>
              </a:rPr>
              <a:t>Sistemik &amp; Terhubung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5425" y="4619029"/>
            <a:ext cx="2254150" cy="975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8892B0"/>
                </a:solidFill>
                <a:latin typeface="Roboto"/>
              </a:rPr>
              <a:t>Alur logis yang jelas dari Perangkat Fisik (H/W) → Sistem Operasi (OS) → Otomatisasi Terminal (CLI).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2075" y="4318099"/>
            <a:ext cx="2086979" cy="205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20"/>
              </a:lnSpc>
            </a:pPr>
            <a:r>
              <a:rPr b="0" sz="1350" i="0" u="none">
                <a:solidFill>
                  <a:srgbClr val="14B8A6"/>
                </a:solidFill>
                <a:latin typeface="Montserrat SemiBold"/>
              </a:rPr>
              <a:t>Takeaway Utama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5375" y="4619029"/>
            <a:ext cx="2254299" cy="975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8892B0"/>
                </a:solidFill>
                <a:latin typeface="Roboto"/>
              </a:rPr>
              <a:t>Pemahaman komprehensif diperlukan dari merakit hardware secara fisik hingga mampu mengeksekusi skrip logika.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42175" y="4318099"/>
            <a:ext cx="2086823" cy="205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20"/>
              </a:lnSpc>
            </a:pPr>
            <a:r>
              <a:rPr b="0" sz="1350" i="0" u="none">
                <a:solidFill>
                  <a:srgbClr val="14B8A6"/>
                </a:solidFill>
                <a:latin typeface="Montserrat SemiBold"/>
              </a:rPr>
              <a:t>Rencana Aksi (SOP)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75475" y="4619029"/>
            <a:ext cx="2254150" cy="975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CD6F6"/>
                </a:solidFill>
                <a:latin typeface="Roboto"/>
              </a:rPr>
              <a:t>Standardisasi SOP </a:t>
            </a:r>
            <a:r>
              <a:rPr b="0" sz="1200" i="1" u="none">
                <a:solidFill>
                  <a:srgbClr val="CCD6F6"/>
                </a:solidFill>
                <a:latin typeface="Roboto"/>
              </a:rPr>
              <a:t>troubleshooting</a:t>
            </a:r>
            <a:r>
              <a:rPr b="0" sz="1200" i="0" u="none">
                <a:solidFill>
                  <a:srgbClr val="CCD6F6"/>
                </a:solidFill>
                <a:latin typeface="Roboto"/>
              </a:rPr>
              <a:t> analitis &amp; penerapan skrip pemeliharaan rutin secara berkala.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5425" y="4335214"/>
            <a:ext cx="171450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35375" y="4335214"/>
            <a:ext cx="171450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75475" y="4335214"/>
            <a:ext cx="171450" cy="1714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62000" y="571500"/>
            <a:ext cx="11201400" cy="4990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779"/>
              </a:lnSpc>
            </a:pPr>
            <a:r>
              <a:rPr b="1" sz="3150" i="0" u="none">
                <a:solidFill>
                  <a:srgbClr val="E6F1FF"/>
                </a:solidFill>
                <a:latin typeface="Montserrat"/>
              </a:rPr>
              <a:t>Rangkuman Integratif &amp; Rencana Aksi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2000" y="1194345"/>
            <a:ext cx="10668000" cy="190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44250" y="6200775"/>
            <a:ext cx="28575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233554"/>
                </a:solidFill>
                <a:latin typeface="Montserrat"/>
              </a:rPr>
              <a:t>05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10250" y="873397"/>
            <a:ext cx="5715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