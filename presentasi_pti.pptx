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Selamat pagi/siang rekan-rekan dan bapak/ibu sekalian. Selamat datang dalam presentasi Praktikum Pengantar Teknologi Informasi. Hari ini kita akan membahas rangkuman eksekutif yang mengintegrasikan 4 modul utama: perakitan PC, arsitektur laptop, manajemen OS Windows &amp; Linux, serta perintah Command Line (CMD).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Pada Modul 1, kita mempelajari fondasi fisik komputer desktop. Penting bagi praktisi IT untuk paham fungsi spesifik tiap komponen—termasuk PSU yang menyuplai daya DC. Aspek K3 dan ESD harus diperhatikan saat perakitan sebelum pengujian POST.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Masuk ke Modul 2, kita beralih ke laptop. Perbedaan utama ada pada efisiensi ruang dan daya (RAM SODIMM &amp; SSD M.2 NVMe). Catatan kritis: pemutusan arus baterai utama wajib dilakukan pertama kali sebelum pembongkaran.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Pada Modul 4, kita membahas OS sebagai pengelola sumber daya. Kita membandingkan Windows yang unggul di antarmuka GUI, dengan Linux Ubuntu yang menjadi standar infrastruktur server karena ringan, open-source, dan aman.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 Modul 8, kita memanfaatkan antarmuka CLI berbasis teks. Menguasai CMD seperti ipconfig, dir, dan mkdir merupakan batu loncatan penting sebelum mempelajari PowerShell, Linux Shell, dan automation scripting.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Sebagai penutup, keempat modul ini membentuk satu kesatuan siklus komputasi yang utuh: Hardware adalah fondasinya, OS adalah pengelolanya, dan CLI adalah alat kendali presisinya. Terima kasih!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Rounded Rectangle 1"/>
          <p:cNvSpPr/>
          <p:nvPr/>
        </p:nvSpPr>
        <p:spPr>
          <a:xfrm>
            <a:off x="731520" y="1097280"/>
            <a:ext cx="3474720" cy="365760"/>
          </a:xfrm>
          <a:prstGeom prst="roundRect">
            <a:avLst/>
          </a:prstGeom>
          <a:solidFill>
            <a:srgbClr val="0A192F"/>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6B6D4"/>
                </a:solidFill>
              </a:defRPr>
            </a:pPr>
            <a:r>
              <a:t>PTI TA 2025/2026 — Executive Summary</a:t>
            </a:r>
          </a:p>
        </p:txBody>
      </p:sp>
      <p:sp>
        <p:nvSpPr>
          <p:cNvPr id="3" name="TextBox 2"/>
          <p:cNvSpPr txBox="1"/>
          <p:nvPr/>
        </p:nvSpPr>
        <p:spPr>
          <a:xfrm>
            <a:off x="731520" y="1737360"/>
            <a:ext cx="10515600" cy="1828800"/>
          </a:xfrm>
          <a:prstGeom prst="rect">
            <a:avLst/>
          </a:prstGeom>
          <a:noFill/>
        </p:spPr>
        <p:txBody>
          <a:bodyPr wrap="square">
            <a:spAutoFit/>
          </a:bodyPr>
          <a:lstStyle/>
          <a:p>
            <a:pPr>
              <a:defRPr sz="3800" b="1">
                <a:solidFill>
                  <a:srgbClr val="FFFFFF"/>
                </a:solidFill>
                <a:latin typeface="Montserrat"/>
              </a:defRPr>
            </a:pPr>
            <a:r>
              <a:t>PENGANTAR TEKNOLOGI INFORMASI</a:t>
            </a:r>
          </a:p>
          <a:p>
            <a:pPr>
              <a:defRPr sz="2000">
                <a:solidFill>
                  <a:srgbClr val="06B6D4"/>
                </a:solidFill>
                <a:latin typeface="Arial"/>
              </a:defRPr>
            </a:pPr>
            <a:r>
              <a:t>Pengenalan Hardware, Sistem Operasi, dan Command Line</a:t>
            </a:r>
          </a:p>
          <a:p>
            <a:pPr>
              <a:defRPr sz="1400">
                <a:solidFill>
                  <a:srgbClr val="64748B"/>
                </a:solidFill>
                <a:latin typeface="Arial"/>
              </a:defRPr>
            </a:pPr>
            <a:r>
              <a:t>Tinjauan Integratif Modul 1, 2, 4, &amp; 8 — Laboratorium Komputer PTI</a:t>
            </a:r>
          </a:p>
        </p:txBody>
      </p:sp>
      <p:sp>
        <p:nvSpPr>
          <p:cNvPr id="4" name="Rounded Rectangle 3"/>
          <p:cNvSpPr/>
          <p:nvPr/>
        </p:nvSpPr>
        <p:spPr>
          <a:xfrm>
            <a:off x="731520" y="4754880"/>
            <a:ext cx="2468880" cy="548640"/>
          </a:xfrm>
          <a:prstGeom prst="roundRect">
            <a:avLst/>
          </a:prstGeom>
          <a:solidFill>
            <a:srgbClr val="0F172A"/>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Modul 1: PC &amp; Perakitan</a:t>
            </a:r>
          </a:p>
        </p:txBody>
      </p:sp>
      <p:sp>
        <p:nvSpPr>
          <p:cNvPr id="5" name="Rounded Rectangle 4"/>
          <p:cNvSpPr/>
          <p:nvPr/>
        </p:nvSpPr>
        <p:spPr>
          <a:xfrm>
            <a:off x="3383280" y="4754880"/>
            <a:ext cx="2468880" cy="548640"/>
          </a:xfrm>
          <a:prstGeom prst="roundRect">
            <a:avLst/>
          </a:prstGeom>
          <a:solidFill>
            <a:srgbClr val="0F172A"/>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Modul 2: Laptop &amp; Perakitan</a:t>
            </a:r>
          </a:p>
        </p:txBody>
      </p:sp>
      <p:sp>
        <p:nvSpPr>
          <p:cNvPr id="6" name="Rounded Rectangle 5"/>
          <p:cNvSpPr/>
          <p:nvPr/>
        </p:nvSpPr>
        <p:spPr>
          <a:xfrm>
            <a:off x="6035040" y="4754880"/>
            <a:ext cx="2468880" cy="548640"/>
          </a:xfrm>
          <a:prstGeom prst="roundRect">
            <a:avLst/>
          </a:prstGeom>
          <a:solidFill>
            <a:srgbClr val="0F172A"/>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Modul 4: OS Windows &amp; Linux</a:t>
            </a:r>
          </a:p>
        </p:txBody>
      </p:sp>
      <p:sp>
        <p:nvSpPr>
          <p:cNvPr id="7" name="Rounded Rectangle 6"/>
          <p:cNvSpPr/>
          <p:nvPr/>
        </p:nvSpPr>
        <p:spPr>
          <a:xfrm>
            <a:off x="8686800" y="4754880"/>
            <a:ext cx="2468880" cy="548640"/>
          </a:xfrm>
          <a:prstGeom prst="roundRect">
            <a:avLst/>
          </a:prstGeom>
          <a:solidFill>
            <a:srgbClr val="0F172A"/>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Modul 8: Perintah CMD</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pPr>
              <a:defRPr sz="2400" b="1">
                <a:solidFill>
                  <a:srgbClr val="0F172A"/>
                </a:solidFill>
                <a:latin typeface="Montserrat"/>
              </a:defRPr>
            </a:pPr>
            <a:r>
              <a:t>Modul 1: Komponen PC &amp; Perakitan</a:t>
            </a:r>
          </a:p>
          <a:p>
            <a:pPr>
              <a:defRPr sz="1300" b="1">
                <a:solidFill>
                  <a:srgbClr val="14B8A6"/>
                </a:solidFill>
                <a:latin typeface="Arial"/>
              </a:defRPr>
            </a:pPr>
            <a:r>
              <a:t>Arsitektur Perangkat Keras Komputer Desktop &amp; Prosedur K3 Perakitan</a:t>
            </a:r>
          </a:p>
        </p:txBody>
      </p:sp>
      <p:sp>
        <p:nvSpPr>
          <p:cNvPr id="3" name="Rounded Rectangle 2"/>
          <p:cNvSpPr/>
          <p:nvPr/>
        </p:nvSpPr>
        <p:spPr>
          <a:xfrm>
            <a:off x="731520" y="1371600"/>
            <a:ext cx="2834640" cy="1371600"/>
          </a:xfrm>
          <a:prstGeom prst="roundRect">
            <a:avLst/>
          </a:prstGeom>
          <a:solidFill>
            <a:srgbClr val="FFFFFF"/>
          </a:solidFill>
          <a:ln>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0F172A"/>
                </a:solidFill>
              </a:defRPr>
            </a:pPr>
            <a:r>
              <a:t>Motherboard</a:t>
            </a:r>
          </a:p>
          <a:p>
            <a:pPr>
              <a:defRPr sz="1000">
                <a:solidFill>
                  <a:srgbClr val="64748B"/>
                </a:solidFill>
              </a:defRPr>
            </a:pPr>
            <a:r>
              <a:t>Papan induk penghubung &amp; jalur komunikasi utama.</a:t>
            </a:r>
          </a:p>
        </p:txBody>
      </p:sp>
      <p:sp>
        <p:nvSpPr>
          <p:cNvPr id="4" name="Rounded Rectangle 3"/>
          <p:cNvSpPr/>
          <p:nvPr/>
        </p:nvSpPr>
        <p:spPr>
          <a:xfrm>
            <a:off x="3749039" y="1371600"/>
            <a:ext cx="2834640" cy="1371600"/>
          </a:xfrm>
          <a:prstGeom prst="roundRect">
            <a:avLst/>
          </a:prstGeom>
          <a:solidFill>
            <a:srgbClr val="FFFFFF"/>
          </a:solidFill>
          <a:ln>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0F172A"/>
                </a:solidFill>
              </a:defRPr>
            </a:pPr>
            <a:r>
              <a:t>Processor (CPU)</a:t>
            </a:r>
          </a:p>
          <a:p>
            <a:pPr>
              <a:defRPr sz="1000">
                <a:solidFill>
                  <a:srgbClr val="64748B"/>
                </a:solidFill>
              </a:defRPr>
            </a:pPr>
            <a:r>
              <a:t>Otak pemrosesan instruksi &amp; perhitungan logis.</a:t>
            </a:r>
          </a:p>
        </p:txBody>
      </p:sp>
      <p:sp>
        <p:nvSpPr>
          <p:cNvPr id="5" name="Rounded Rectangle 4"/>
          <p:cNvSpPr/>
          <p:nvPr/>
        </p:nvSpPr>
        <p:spPr>
          <a:xfrm>
            <a:off x="731520" y="2926080"/>
            <a:ext cx="2834640" cy="1371600"/>
          </a:xfrm>
          <a:prstGeom prst="roundRect">
            <a:avLst/>
          </a:prstGeom>
          <a:solidFill>
            <a:srgbClr val="FFFFFF"/>
          </a:solidFill>
          <a:ln>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0F172A"/>
                </a:solidFill>
              </a:defRPr>
            </a:pPr>
            <a:r>
              <a:t>RAM Memory</a:t>
            </a:r>
          </a:p>
          <a:p>
            <a:pPr>
              <a:defRPr sz="1000">
                <a:solidFill>
                  <a:srgbClr val="64748B"/>
                </a:solidFill>
              </a:defRPr>
            </a:pPr>
            <a:r>
              <a:t>Penyimpanan sementara berkecepatan tinggi.</a:t>
            </a:r>
          </a:p>
        </p:txBody>
      </p:sp>
      <p:sp>
        <p:nvSpPr>
          <p:cNvPr id="6" name="Rounded Rectangle 5"/>
          <p:cNvSpPr/>
          <p:nvPr/>
        </p:nvSpPr>
        <p:spPr>
          <a:xfrm>
            <a:off x="3749039" y="2926080"/>
            <a:ext cx="2834640" cy="1371600"/>
          </a:xfrm>
          <a:prstGeom prst="roundRect">
            <a:avLst/>
          </a:prstGeom>
          <a:solidFill>
            <a:srgbClr val="FFFFFF"/>
          </a:solidFill>
          <a:ln>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0F172A"/>
                </a:solidFill>
              </a:defRPr>
            </a:pPr>
            <a:r>
              <a:t>Storage (SSD/HDD)</a:t>
            </a:r>
          </a:p>
          <a:p>
            <a:pPr>
              <a:defRPr sz="1000">
                <a:solidFill>
                  <a:srgbClr val="64748B"/>
                </a:solidFill>
              </a:defRPr>
            </a:pPr>
            <a:r>
              <a:t>Penyimpanan persisten OS, aplikasi, &amp; data.</a:t>
            </a:r>
          </a:p>
        </p:txBody>
      </p:sp>
      <p:sp>
        <p:nvSpPr>
          <p:cNvPr id="7" name="Rounded Rectangle 6"/>
          <p:cNvSpPr/>
          <p:nvPr/>
        </p:nvSpPr>
        <p:spPr>
          <a:xfrm>
            <a:off x="731520" y="4480560"/>
            <a:ext cx="2834640" cy="1371600"/>
          </a:xfrm>
          <a:prstGeom prst="roundRect">
            <a:avLst/>
          </a:prstGeom>
          <a:solidFill>
            <a:srgbClr val="FFFFFF"/>
          </a:solidFill>
          <a:ln>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0F172A"/>
                </a:solidFill>
              </a:defRPr>
            </a:pPr>
            <a:r>
              <a:t>VGA Card (GPU)</a:t>
            </a:r>
          </a:p>
          <a:p>
            <a:pPr>
              <a:defRPr sz="1000">
                <a:solidFill>
                  <a:srgbClr val="64748B"/>
                </a:solidFill>
              </a:defRPr>
            </a:pPr>
            <a:r>
              <a:t>Pemrosesan sinyal grafis &amp; akselerasi visual.</a:t>
            </a:r>
          </a:p>
        </p:txBody>
      </p:sp>
      <p:sp>
        <p:nvSpPr>
          <p:cNvPr id="8" name="Rounded Rectangle 7"/>
          <p:cNvSpPr/>
          <p:nvPr/>
        </p:nvSpPr>
        <p:spPr>
          <a:xfrm>
            <a:off x="3749039" y="4480560"/>
            <a:ext cx="2834640" cy="1371600"/>
          </a:xfrm>
          <a:prstGeom prst="roundRect">
            <a:avLst/>
          </a:prstGeom>
          <a:solidFill>
            <a:srgbClr val="FFFFFF"/>
          </a:solidFill>
          <a:ln>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0F172A"/>
                </a:solidFill>
              </a:defRPr>
            </a:pPr>
            <a:r>
              <a:t>Power Supply (PSU)</a:t>
            </a:r>
          </a:p>
          <a:p>
            <a:pPr>
              <a:defRPr sz="1000">
                <a:solidFill>
                  <a:srgbClr val="64748B"/>
                </a:solidFill>
              </a:defRPr>
            </a:pPr>
            <a:r>
              <a:t>Penyuplai daya listrik DC stabil ke komponen.</a:t>
            </a:r>
          </a:p>
        </p:txBody>
      </p:sp>
      <p:sp>
        <p:nvSpPr>
          <p:cNvPr id="9" name="Rounded Rectangle 8"/>
          <p:cNvSpPr/>
          <p:nvPr/>
        </p:nvSpPr>
        <p:spPr>
          <a:xfrm>
            <a:off x="6949440" y="1371600"/>
            <a:ext cx="4480560" cy="4754880"/>
          </a:xfrm>
          <a:prstGeom prst="roundRect">
            <a:avLst/>
          </a:prstGeom>
          <a:solidFill>
            <a:srgbClr val="FFFFFF"/>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600">
                <a:solidFill>
                  <a:srgbClr val="0F172A"/>
                </a:solidFill>
              </a:defRPr>
            </a:pPr>
            <a:r>
              <a:t>Tahapan Perakitan &amp; POST</a:t>
            </a:r>
          </a:p>
          <a:p>
            <a:br/>
            <a:pPr>
              <a:defRPr sz="1100">
                <a:solidFill>
                  <a:srgbClr val="0F172A"/>
                </a:solidFill>
              </a:defRPr>
            </a:pPr>
            <a:r>
              <a:t>1. Pasang CPU, Thermal Paste, &amp; Cooler</a:t>
            </a:r>
          </a:p>
          <a:p>
            <a:br/>
            <a:pPr>
              <a:defRPr sz="1100">
                <a:solidFill>
                  <a:srgbClr val="0F172A"/>
                </a:solidFill>
              </a:defRPr>
            </a:pPr>
            <a:r>
              <a:t>2. Pasang RAM Dual-Channel pada slot utama</a:t>
            </a:r>
          </a:p>
          <a:p>
            <a:br/>
            <a:pPr>
              <a:defRPr sz="1100">
                <a:solidFill>
                  <a:srgbClr val="0F172A"/>
                </a:solidFill>
              </a:defRPr>
            </a:pPr>
            <a:r>
              <a:t>3. Instalasi Motherboard ke Casing/Chassis</a:t>
            </a:r>
          </a:p>
          <a:p>
            <a:br/>
            <a:pPr>
              <a:defRPr sz="1100">
                <a:solidFill>
                  <a:srgbClr val="0F172A"/>
                </a:solidFill>
              </a:defRPr>
            </a:pPr>
            <a:r>
              <a:t>4. Pasang PSU, Storage, &amp; Cable Management</a:t>
            </a:r>
          </a:p>
          <a:p>
            <a:br/>
            <a:pPr>
              <a:defRPr sz="1100">
                <a:solidFill>
                  <a:srgbClr val="0F172A"/>
                </a:solidFill>
              </a:defRPr>
            </a:pPr>
            <a:r>
              <a:t>5. Pengujian POST &amp; Verifikasi Tampilan BIOS</a:t>
            </a:r>
          </a:p>
        </p:txBody>
      </p:sp>
    </p:spTree>
  </p:cSld>
  <p:clrMapOvr>
    <a:masterClrMapping/>
  </p:clrMapOvr>
  <p:transition spd="med">
    <p:push dir="l"/>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pPr>
              <a:defRPr sz="2400" b="1">
                <a:solidFill>
                  <a:srgbClr val="0F172A"/>
                </a:solidFill>
                <a:latin typeface="Montserrat"/>
              </a:defRPr>
            </a:pPr>
            <a:r>
              <a:t>Modul 2: Komponen Laptop &amp; Perakitan</a:t>
            </a:r>
          </a:p>
          <a:p>
            <a:pPr>
              <a:defRPr sz="1300" b="1">
                <a:solidFill>
                  <a:srgbClr val="14B8A6"/>
                </a:solidFill>
                <a:latin typeface="Arial"/>
              </a:defRPr>
            </a:pPr>
            <a:r>
              <a:t>Arsitektur Ringkas, Efisiensi Daya, &amp; Prosedur Disassembly</a:t>
            </a:r>
          </a:p>
        </p:txBody>
      </p:sp>
      <p:sp>
        <p:nvSpPr>
          <p:cNvPr id="3" name="Rounded Rectangle 2"/>
          <p:cNvSpPr/>
          <p:nvPr/>
        </p:nvSpPr>
        <p:spPr>
          <a:xfrm>
            <a:off x="731520" y="1371600"/>
            <a:ext cx="3291840" cy="1828800"/>
          </a:xfrm>
          <a:prstGeom prst="roundRect">
            <a:avLst/>
          </a:prstGeom>
          <a:solidFill>
            <a:srgbClr val="FFFFFF"/>
          </a:solidFill>
          <a:ln w="254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0F172A"/>
                </a:solidFill>
              </a:defRPr>
            </a:pPr>
            <a:r>
              <a:t>RAM SODIMM</a:t>
            </a:r>
          </a:p>
          <a:p>
            <a:br/>
            <a:pPr>
              <a:defRPr sz="1100">
                <a:solidFill>
                  <a:srgbClr val="64748B"/>
                </a:solidFill>
              </a:defRPr>
            </a:pPr>
            <a:r>
              <a:t>Form factor memori ekstra ringkas khusus perangkat portabel. Hemat daya dan ruang.</a:t>
            </a:r>
          </a:p>
        </p:txBody>
      </p:sp>
      <p:sp>
        <p:nvSpPr>
          <p:cNvPr id="4" name="Rounded Rectangle 3"/>
          <p:cNvSpPr/>
          <p:nvPr/>
        </p:nvSpPr>
        <p:spPr>
          <a:xfrm>
            <a:off x="4297680" y="1371600"/>
            <a:ext cx="3291840" cy="1828800"/>
          </a:xfrm>
          <a:prstGeom prst="roundRect">
            <a:avLst/>
          </a:prstGeom>
          <a:solidFill>
            <a:srgbClr val="FFFFFF"/>
          </a:solidFill>
          <a:ln w="254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0F172A"/>
                </a:solidFill>
              </a:defRPr>
            </a:pPr>
            <a:r>
              <a:t>M.2 NVMe SSD</a:t>
            </a:r>
          </a:p>
          <a:p>
            <a:br/>
            <a:pPr>
              <a:defRPr sz="1100">
                <a:solidFill>
                  <a:srgbClr val="64748B"/>
                </a:solidFill>
              </a:defRPr>
            </a:pPr>
            <a:r>
              <a:t>Storage bus PCIe kecepatan tinggi berukuran stik tipis tanpa kabel tambahan.</a:t>
            </a:r>
          </a:p>
        </p:txBody>
      </p:sp>
      <p:sp>
        <p:nvSpPr>
          <p:cNvPr id="5" name="Rounded Rectangle 4"/>
          <p:cNvSpPr/>
          <p:nvPr/>
        </p:nvSpPr>
        <p:spPr>
          <a:xfrm>
            <a:off x="7863840" y="1371600"/>
            <a:ext cx="3291840" cy="1828800"/>
          </a:xfrm>
          <a:prstGeom prst="roundRect">
            <a:avLst/>
          </a:prstGeom>
          <a:solidFill>
            <a:srgbClr val="FFFFFF"/>
          </a:solidFill>
          <a:ln w="12700">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0F172A"/>
                </a:solidFill>
              </a:defRPr>
            </a:pPr>
            <a:r>
              <a:t>SoC &amp; Mobile CPU</a:t>
            </a:r>
          </a:p>
          <a:p>
            <a:br/>
            <a:pPr>
              <a:defRPr sz="1100">
                <a:solidFill>
                  <a:srgbClr val="64748B"/>
                </a:solidFill>
              </a:defRPr>
            </a:pPr>
            <a:r>
              <a:t>Prosesor TDP rendah dengan sistem pendingin Heatpipe dan Fan terintegrasi.</a:t>
            </a:r>
          </a:p>
        </p:txBody>
      </p:sp>
      <p:sp>
        <p:nvSpPr>
          <p:cNvPr id="6" name="Rounded Rectangle 5"/>
          <p:cNvSpPr/>
          <p:nvPr/>
        </p:nvSpPr>
        <p:spPr>
          <a:xfrm>
            <a:off x="731520" y="3566160"/>
            <a:ext cx="10698480" cy="2560320"/>
          </a:xfrm>
          <a:prstGeom prst="roundRect">
            <a:avLst/>
          </a:prstGeom>
          <a:solidFill>
            <a:srgbClr val="0A192F"/>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500">
                <a:solidFill>
                  <a:srgbClr val="06B6D4"/>
                </a:solidFill>
              </a:defRPr>
            </a:pPr>
            <a:r>
              <a:t>PROSEDUR DISASSEMBLY &amp; REASSEMBLY LAPTOP</a:t>
            </a:r>
            <a:br/>
          </a:p>
          <a:p>
            <a:pPr>
              <a:defRPr sz="1200">
                <a:solidFill>
                  <a:srgbClr val="FFFFFF"/>
                </a:solidFill>
              </a:defRPr>
            </a:pPr>
            <a:r>
              <a:t>• Langkah 01: Buka Bottom Cover &amp; Putuskan arus Baterai utama (Safety First).</a:t>
            </a:r>
          </a:p>
          <a:p>
            <a:pPr>
              <a:defRPr sz="1200">
                <a:solidFill>
                  <a:srgbClr val="FFFFFF"/>
                </a:solidFill>
              </a:defRPr>
            </a:pPr>
            <a:r>
              <a:t>• Langkah 02: Pelepasan/Upgrading RAM SODIMM &amp; Storage M.2 NVMe.</a:t>
            </a:r>
          </a:p>
          <a:p>
            <a:pPr>
              <a:defRPr sz="1200">
                <a:solidFill>
                  <a:srgbClr val="FFFFFF"/>
                </a:solidFill>
              </a:defRPr>
            </a:pPr>
            <a:r>
              <a:t>• Langkah 03: Pembersihan kipas &amp; pembaruan pasta termal (Cegah Thermal Throttling).</a:t>
            </a:r>
          </a:p>
          <a:p>
            <a:pPr>
              <a:defRPr sz="1200">
                <a:solidFill>
                  <a:srgbClr val="FFFFFF"/>
                </a:solidFill>
              </a:defRPr>
            </a:pPr>
            <a:r>
              <a:t>• Langkah 04: Perakitan ulang chassis &amp; verifikasi status komponen di BIOS.</a:t>
            </a:r>
          </a:p>
        </p:txBody>
      </p:sp>
    </p:spTree>
  </p:cSld>
  <p:clrMapOvr>
    <a:masterClrMapping/>
  </p:clrMapOvr>
  <p:transition spd="med">
    <p:push dir="l"/>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pPr>
              <a:defRPr sz="2400" b="1">
                <a:solidFill>
                  <a:srgbClr val="0F172A"/>
                </a:solidFill>
                <a:latin typeface="Montserrat"/>
              </a:defRPr>
            </a:pPr>
            <a:r>
              <a:t>Modul 4: Operating System (Windows &amp; Linux)</a:t>
            </a:r>
          </a:p>
          <a:p>
            <a:pPr>
              <a:defRPr sz="1300" b="1">
                <a:solidFill>
                  <a:srgbClr val="14B8A6"/>
                </a:solidFill>
                <a:latin typeface="Arial"/>
              </a:defRPr>
            </a:pPr>
            <a:r>
              <a:t>Perbandingan Platform, Manajemen Sumber Daya, &amp; Partisi Boot</a:t>
            </a:r>
          </a:p>
        </p:txBody>
      </p:sp>
      <p:sp>
        <p:nvSpPr>
          <p:cNvPr id="3" name="Rounded Rectangle 2"/>
          <p:cNvSpPr/>
          <p:nvPr/>
        </p:nvSpPr>
        <p:spPr>
          <a:xfrm>
            <a:off x="731520" y="1371600"/>
            <a:ext cx="5120640" cy="2926080"/>
          </a:xfrm>
          <a:prstGeom prst="roundRect">
            <a:avLst/>
          </a:prstGeom>
          <a:solidFill>
            <a:srgbClr val="FFFFFF"/>
          </a:solidFill>
          <a:ln w="254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600">
                <a:solidFill>
                  <a:srgbClr val="0F172A"/>
                </a:solidFill>
              </a:defRPr>
            </a:pPr>
            <a:r>
              <a:t>Windows OS</a:t>
            </a:r>
          </a:p>
          <a:p>
            <a:pPr>
              <a:defRPr sz="1100">
                <a:solidFill>
                  <a:srgbClr val="64748B"/>
                </a:solidFill>
              </a:defRPr>
            </a:pPr>
            <a:r>
              <a:t>• Proprietary &amp; Komersial</a:t>
            </a:r>
          </a:p>
          <a:p>
            <a:pPr>
              <a:defRPr sz="1100">
                <a:solidFill>
                  <a:srgbClr val="64748B"/>
                </a:solidFill>
              </a:defRPr>
            </a:pPr>
            <a:r>
              <a:t>• Antarmuka GUI sangat User-Friendly</a:t>
            </a:r>
          </a:p>
          <a:p>
            <a:pPr>
              <a:defRPr sz="1100">
                <a:solidFill>
                  <a:srgbClr val="64748B"/>
                </a:solidFill>
              </a:defRPr>
            </a:pPr>
            <a:r>
              <a:t>• Dukungan Ekosistem Software &amp; Game Luas</a:t>
            </a:r>
          </a:p>
          <a:p>
            <a:pPr>
              <a:defRPr sz="1100">
                <a:solidFill>
                  <a:srgbClr val="64748B"/>
                </a:solidFill>
              </a:defRPr>
            </a:pPr>
            <a:r>
              <a:t>• Standar Lingkungan Kerja &amp; Perkantoran</a:t>
            </a:r>
          </a:p>
        </p:txBody>
      </p:sp>
      <p:sp>
        <p:nvSpPr>
          <p:cNvPr id="4" name="Rounded Rectangle 3"/>
          <p:cNvSpPr/>
          <p:nvPr/>
        </p:nvSpPr>
        <p:spPr>
          <a:xfrm>
            <a:off x="6309360" y="1371600"/>
            <a:ext cx="5120640" cy="2926080"/>
          </a:xfrm>
          <a:prstGeom prst="roundRect">
            <a:avLst/>
          </a:prstGeom>
          <a:solidFill>
            <a:srgbClr val="FFFFFF"/>
          </a:solidFill>
          <a:ln w="2540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600">
                <a:solidFill>
                  <a:srgbClr val="0F172A"/>
                </a:solidFill>
              </a:defRPr>
            </a:pPr>
            <a:r>
              <a:t>Linux (Ubuntu)</a:t>
            </a:r>
          </a:p>
          <a:p>
            <a:pPr>
              <a:defRPr sz="1100">
                <a:solidFill>
                  <a:srgbClr val="64748B"/>
                </a:solidFill>
              </a:defRPr>
            </a:pPr>
            <a:r>
              <a:t>• Open-Source &amp; Gratis</a:t>
            </a:r>
          </a:p>
          <a:p>
            <a:pPr>
              <a:defRPr sz="1100">
                <a:solidFill>
                  <a:srgbClr val="64748B"/>
                </a:solidFill>
              </a:defRPr>
            </a:pPr>
            <a:r>
              <a:t>• Sangat Aman &amp; Relatif Bebas Virus</a:t>
            </a:r>
          </a:p>
          <a:p>
            <a:pPr>
              <a:defRPr sz="1100">
                <a:solidFill>
                  <a:srgbClr val="64748B"/>
                </a:solidFill>
              </a:defRPr>
            </a:pPr>
            <a:r>
              <a:t>• Stabilitas Tinggi untuk Server &amp; Developer</a:t>
            </a:r>
          </a:p>
          <a:p>
            <a:pPr>
              <a:defRPr sz="1100">
                <a:solidFill>
                  <a:srgbClr val="64748B"/>
                </a:solidFill>
              </a:defRPr>
            </a:pPr>
            <a:r>
              <a:t>• Manajemen Partisi Fleksibel (ext4 &amp; Swap)</a:t>
            </a:r>
          </a:p>
        </p:txBody>
      </p:sp>
      <p:sp>
        <p:nvSpPr>
          <p:cNvPr id="5" name="Rounded Rectangle 4"/>
          <p:cNvSpPr/>
          <p:nvPr/>
        </p:nvSpPr>
        <p:spPr>
          <a:xfrm>
            <a:off x="731520" y="4480560"/>
            <a:ext cx="2560320" cy="1645920"/>
          </a:xfrm>
          <a:prstGeom prst="roundRect">
            <a:avLst/>
          </a:prstGeom>
          <a:solidFill>
            <a:srgbClr val="FFFFFF"/>
          </a:solidFill>
          <a:ln>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200">
                <a:solidFill>
                  <a:srgbClr val="0F172A"/>
                </a:solidFill>
              </a:defRPr>
            </a:pPr>
            <a:r>
              <a:t>Manajemen Proses</a:t>
            </a:r>
          </a:p>
          <a:p>
            <a:br/>
            <a:pPr>
              <a:defRPr sz="1000">
                <a:solidFill>
                  <a:srgbClr val="64748B"/>
                </a:solidFill>
              </a:defRPr>
            </a:pPr>
            <a:r>
              <a:t>CPU Scheduling &amp; RAM</a:t>
            </a:r>
          </a:p>
        </p:txBody>
      </p:sp>
      <p:sp>
        <p:nvSpPr>
          <p:cNvPr id="6" name="Rounded Rectangle 5"/>
          <p:cNvSpPr/>
          <p:nvPr/>
        </p:nvSpPr>
        <p:spPr>
          <a:xfrm>
            <a:off x="3429000" y="4480560"/>
            <a:ext cx="2560320" cy="1645920"/>
          </a:xfrm>
          <a:prstGeom prst="roundRect">
            <a:avLst/>
          </a:prstGeom>
          <a:solidFill>
            <a:srgbClr val="FFFFFF"/>
          </a:solidFill>
          <a:ln>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200">
                <a:solidFill>
                  <a:srgbClr val="0F172A"/>
                </a:solidFill>
              </a:defRPr>
            </a:pPr>
            <a:r>
              <a:t>File System</a:t>
            </a:r>
          </a:p>
          <a:p>
            <a:br/>
            <a:pPr>
              <a:defRPr sz="1000">
                <a:solidFill>
                  <a:srgbClr val="64748B"/>
                </a:solidFill>
              </a:defRPr>
            </a:pPr>
            <a:r>
              <a:t>Struktur NTFS / ext4</a:t>
            </a:r>
          </a:p>
        </p:txBody>
      </p:sp>
      <p:sp>
        <p:nvSpPr>
          <p:cNvPr id="7" name="Rounded Rectangle 6"/>
          <p:cNvSpPr/>
          <p:nvPr/>
        </p:nvSpPr>
        <p:spPr>
          <a:xfrm>
            <a:off x="6126480" y="4480560"/>
            <a:ext cx="2560320" cy="1645920"/>
          </a:xfrm>
          <a:prstGeom prst="roundRect">
            <a:avLst/>
          </a:prstGeom>
          <a:solidFill>
            <a:srgbClr val="FFFFFF"/>
          </a:solidFill>
          <a:ln>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200">
                <a:solidFill>
                  <a:srgbClr val="0F172A"/>
                </a:solidFill>
              </a:defRPr>
            </a:pPr>
            <a:r>
              <a:t>Abstraksi Hardware</a:t>
            </a:r>
          </a:p>
          <a:p>
            <a:br/>
            <a:pPr>
              <a:defRPr sz="1000">
                <a:solidFill>
                  <a:srgbClr val="64748B"/>
                </a:solidFill>
              </a:defRPr>
            </a:pPr>
            <a:r>
              <a:t>Driver &amp; I/O Management</a:t>
            </a:r>
          </a:p>
        </p:txBody>
      </p:sp>
      <p:sp>
        <p:nvSpPr>
          <p:cNvPr id="8" name="Rounded Rectangle 7"/>
          <p:cNvSpPr/>
          <p:nvPr/>
        </p:nvSpPr>
        <p:spPr>
          <a:xfrm>
            <a:off x="8823960" y="4480560"/>
            <a:ext cx="2560320" cy="1645920"/>
          </a:xfrm>
          <a:prstGeom prst="roundRect">
            <a:avLst/>
          </a:prstGeom>
          <a:solidFill>
            <a:srgbClr val="FFFFFF"/>
          </a:solidFill>
          <a:ln>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200">
                <a:solidFill>
                  <a:srgbClr val="0F172A"/>
                </a:solidFill>
              </a:defRPr>
            </a:pPr>
            <a:r>
              <a:t>User Interface</a:t>
            </a:r>
          </a:p>
          <a:p>
            <a:br/>
            <a:pPr>
              <a:defRPr sz="1000">
                <a:solidFill>
                  <a:srgbClr val="64748B"/>
                </a:solidFill>
              </a:defRPr>
            </a:pPr>
            <a:r>
              <a:t>Antarmuka GUI &amp; CLI</a:t>
            </a:r>
          </a:p>
        </p:txBody>
      </p:sp>
    </p:spTree>
  </p:cSld>
  <p:clrMapOvr>
    <a:masterClrMapping/>
  </p:clrMapOvr>
  <p:transition spd="med">
    <p:push dir="l"/>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pPr>
              <a:defRPr sz="2400" b="1">
                <a:solidFill>
                  <a:srgbClr val="0F172A"/>
                </a:solidFill>
                <a:latin typeface="Montserrat"/>
              </a:defRPr>
            </a:pPr>
            <a:r>
              <a:t>Modul 8: Command Line Interface (CMD)</a:t>
            </a:r>
          </a:p>
          <a:p>
            <a:pPr>
              <a:defRPr sz="1300" b="1">
                <a:solidFill>
                  <a:srgbClr val="14B8A6"/>
                </a:solidFill>
                <a:latin typeface="Arial"/>
              </a:defRPr>
            </a:pPr>
            <a:r>
              <a:t>Eksekusi Perintah Teks, Automasi, &amp; Diagnostics</a:t>
            </a:r>
          </a:p>
        </p:txBody>
      </p:sp>
      <p:sp>
        <p:nvSpPr>
          <p:cNvPr id="3" name="Rounded Rectangle 2"/>
          <p:cNvSpPr/>
          <p:nvPr/>
        </p:nvSpPr>
        <p:spPr>
          <a:xfrm>
            <a:off x="731520" y="1371600"/>
            <a:ext cx="10698480" cy="4754880"/>
          </a:xfrm>
          <a:prstGeom prst="roundRect">
            <a:avLst/>
          </a:prstGeom>
          <a:solidFill>
            <a:srgbClr val="050E1A"/>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06B6D4"/>
                </a:solidFill>
                <a:latin typeface="Consolas"/>
              </a:defRPr>
            </a:pPr>
            <a:r>
              <a:t>Windows Command Prompt [Administrator]</a:t>
            </a:r>
            <a:br/>
          </a:p>
          <a:p>
            <a:pPr>
              <a:defRPr sz="1100">
                <a:solidFill>
                  <a:srgbClr val="4ADE80"/>
                </a:solidFill>
                <a:latin typeface="Consolas"/>
              </a:defRPr>
            </a:pPr>
            <a:r>
              <a:t>  DIR          |  Melihat daftar file &amp; direktori     |  Ex: dir /w</a:t>
            </a:r>
          </a:p>
          <a:p>
            <a:pPr>
              <a:defRPr sz="1100">
                <a:solidFill>
                  <a:srgbClr val="4ADE80"/>
                </a:solidFill>
                <a:latin typeface="Consolas"/>
              </a:defRPr>
            </a:pPr>
            <a:r>
              <a:t>  CD           |  Berpindah direktori aktif           |  Ex: cd Documents  /  cd ..</a:t>
            </a:r>
          </a:p>
          <a:p>
            <a:pPr>
              <a:defRPr sz="1100">
                <a:solidFill>
                  <a:srgbClr val="4ADE80"/>
                </a:solidFill>
                <a:latin typeface="Consolas"/>
              </a:defRPr>
            </a:pPr>
            <a:r>
              <a:t>  MD / MKDIR   |  Membuat folder baru                 |  Ex: mkdir Project_PTI</a:t>
            </a:r>
          </a:p>
          <a:p>
            <a:pPr>
              <a:defRPr sz="1100">
                <a:solidFill>
                  <a:srgbClr val="4ADE80"/>
                </a:solidFill>
                <a:latin typeface="Consolas"/>
              </a:defRPr>
            </a:pPr>
            <a:r>
              <a:t>  RD / RMDIR   |  Menghapus folder                    |  Ex: rd /s Old_Folder</a:t>
            </a:r>
          </a:p>
          <a:p>
            <a:pPr>
              <a:defRPr sz="1100">
                <a:solidFill>
                  <a:srgbClr val="4ADE80"/>
                </a:solidFill>
                <a:latin typeface="Consolas"/>
              </a:defRPr>
            </a:pPr>
            <a:r>
              <a:t>  CLS          |  Membersihkan layar terminal         |  Ex: cls</a:t>
            </a:r>
          </a:p>
          <a:p>
            <a:pPr>
              <a:defRPr sz="1100">
                <a:solidFill>
                  <a:srgbClr val="4ADE80"/>
                </a:solidFill>
                <a:latin typeface="Consolas"/>
              </a:defRPr>
            </a:pPr>
            <a:r>
              <a:t>  IPCONFIG     |  Cek IP &amp; konfigurasi jaringan       |  Ex: ipconfig /all</a:t>
            </a:r>
          </a:p>
        </p:txBody>
      </p:sp>
    </p:spTree>
  </p:cSld>
  <p:clrMapOvr>
    <a:masterClrMapping/>
  </p:clrMapOvr>
  <p:transition spd="med">
    <p:push dir="l"/>
  </p:transition>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pPr>
              <a:defRPr sz="2400" b="1">
                <a:solidFill>
                  <a:srgbClr val="0F172A"/>
                </a:solidFill>
                <a:latin typeface="Montserrat"/>
              </a:defRPr>
            </a:pPr>
            <a:r>
              <a:t>Integrasi Modul Praktikum PTI</a:t>
            </a:r>
          </a:p>
          <a:p>
            <a:pPr>
              <a:defRPr sz="1300" b="1">
                <a:solidFill>
                  <a:srgbClr val="14B8A6"/>
                </a:solidFill>
                <a:latin typeface="Arial"/>
              </a:defRPr>
            </a:pPr>
            <a:r>
              <a:t>Sinergi Layer Komputasi: Hardware, OS, &amp; Command Line</a:t>
            </a:r>
          </a:p>
        </p:txBody>
      </p:sp>
      <p:sp>
        <p:nvSpPr>
          <p:cNvPr id="3" name="Rounded Rectangle 2"/>
          <p:cNvSpPr/>
          <p:nvPr/>
        </p:nvSpPr>
        <p:spPr>
          <a:xfrm>
            <a:off x="731520" y="1463040"/>
            <a:ext cx="3291840" cy="1828800"/>
          </a:xfrm>
          <a:prstGeom prst="roundRect">
            <a:avLst/>
          </a:prstGeom>
          <a:solidFill>
            <a:srgbClr val="FFFFFF"/>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0F172A"/>
                </a:solidFill>
              </a:defRPr>
            </a:pPr>
            <a:r>
              <a:t>1. HARDWARE</a:t>
            </a:r>
          </a:p>
          <a:p>
            <a:br/>
            <a:pPr>
              <a:defRPr sz="1100">
                <a:solidFill>
                  <a:srgbClr val="64748B"/>
                </a:solidFill>
              </a:defRPr>
            </a:pPr>
            <a:r>
              <a:t>Modul 1 &amp; 2: Fondasi fisik komputasi (PC &amp; Laptop)</a:t>
            </a:r>
          </a:p>
        </p:txBody>
      </p:sp>
      <p:sp>
        <p:nvSpPr>
          <p:cNvPr id="4" name="Rounded Rectangle 3"/>
          <p:cNvSpPr/>
          <p:nvPr/>
        </p:nvSpPr>
        <p:spPr>
          <a:xfrm>
            <a:off x="4297680" y="1463040"/>
            <a:ext cx="3291840" cy="1828800"/>
          </a:xfrm>
          <a:prstGeom prst="roundRect">
            <a:avLst/>
          </a:prstGeom>
          <a:solidFill>
            <a:srgbClr val="FFFFFF"/>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0F172A"/>
                </a:solidFill>
              </a:defRPr>
            </a:pPr>
            <a:r>
              <a:t>2. OPERATING SYSTEM</a:t>
            </a:r>
          </a:p>
          <a:p>
            <a:br/>
            <a:pPr>
              <a:defRPr sz="1100">
                <a:solidFill>
                  <a:srgbClr val="64748B"/>
                </a:solidFill>
              </a:defRPr>
            </a:pPr>
            <a:r>
              <a:t>Modul 4: Pengelola daya komputasi &amp; memori</a:t>
            </a:r>
          </a:p>
        </p:txBody>
      </p:sp>
      <p:sp>
        <p:nvSpPr>
          <p:cNvPr id="5" name="Rounded Rectangle 4"/>
          <p:cNvSpPr/>
          <p:nvPr/>
        </p:nvSpPr>
        <p:spPr>
          <a:xfrm>
            <a:off x="7863840" y="1463040"/>
            <a:ext cx="3291840" cy="1828800"/>
          </a:xfrm>
          <a:prstGeom prst="roundRect">
            <a:avLst/>
          </a:prstGeom>
          <a:solidFill>
            <a:srgbClr val="FFFFFF"/>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0F172A"/>
                </a:solidFill>
              </a:defRPr>
            </a:pPr>
            <a:r>
              <a:t>3. COMMAND LINE</a:t>
            </a:r>
          </a:p>
          <a:p>
            <a:br/>
            <a:pPr>
              <a:defRPr sz="1100">
                <a:solidFill>
                  <a:srgbClr val="64748B"/>
                </a:solidFill>
              </a:defRPr>
            </a:pPr>
            <a:r>
              <a:t>Modul 8: Kendali presisi &amp; automasi sistem</a:t>
            </a:r>
          </a:p>
        </p:txBody>
      </p:sp>
      <p:sp>
        <p:nvSpPr>
          <p:cNvPr id="6" name="Rounded Rectangle 5"/>
          <p:cNvSpPr/>
          <p:nvPr/>
        </p:nvSpPr>
        <p:spPr>
          <a:xfrm>
            <a:off x="731520" y="3657600"/>
            <a:ext cx="10698480" cy="2377440"/>
          </a:xfrm>
          <a:prstGeom prst="roundRect">
            <a:avLst/>
          </a:prstGeom>
          <a:solidFill>
            <a:srgbClr val="0A192F"/>
          </a:solidFill>
          <a:ln w="254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600">
                <a:solidFill>
                  <a:srgbClr val="06B6D4"/>
                </a:solidFill>
              </a:defRPr>
            </a:pPr>
            <a:r>
              <a:t>KESIMPULAN EKSEKUTIF</a:t>
            </a:r>
          </a:p>
          <a:p>
            <a:br/>
            <a:pPr algn="ctr">
              <a:defRPr sz="1500" i="1">
                <a:solidFill>
                  <a:srgbClr val="FFFFFF"/>
                </a:solidFill>
              </a:defRPr>
            </a:pPr>
            <a:r>
              <a:t>"Pemahaman IT yang utuh tidak sekadar mampu menggunakan komputer, melainkan menguasai bagaimana komputer dirakit, dijalankan sistemnya, dan dikendalikan secara efisien."</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